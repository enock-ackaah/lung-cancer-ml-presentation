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6" r:id="rId8"/>
    <p:sldId id="267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3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2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3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9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0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4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2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5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4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9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9188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2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0893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9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75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5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5D460-6AB7-4852-92ED-B3902F7100D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F75587-AE4D-497A-94AB-533A41CC2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8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2B7C-D363-32A2-E698-EE147D5E3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981" y="1710812"/>
            <a:ext cx="10107561" cy="1917291"/>
          </a:xfrm>
        </p:spPr>
        <p:txBody>
          <a:bodyPr>
            <a:normAutofit/>
          </a:bodyPr>
          <a:lstStyle/>
          <a:p>
            <a:r>
              <a:rPr lang="en-US" b="1" dirty="0"/>
              <a:t>Predicting Lung Cancer using Machine Learning Models.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4AA63-1DDF-187C-A4B8-F4115F2D3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761073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Frederick Asamoah</a:t>
            </a:r>
          </a:p>
          <a:p>
            <a:pPr algn="r"/>
            <a:r>
              <a:rPr lang="en-US" dirty="0"/>
              <a:t>Enock </a:t>
            </a:r>
            <a:r>
              <a:rPr lang="en-US" dirty="0" err="1"/>
              <a:t>Ackaah</a:t>
            </a:r>
            <a:endParaRPr lang="en-US" dirty="0"/>
          </a:p>
          <a:p>
            <a:pPr algn="r"/>
            <a:r>
              <a:rPr lang="en-US" dirty="0"/>
              <a:t>Jing Sun</a:t>
            </a:r>
          </a:p>
          <a:p>
            <a:pPr algn="r"/>
            <a:r>
              <a:rPr lang="en-US" dirty="0"/>
              <a:t>Yongqing Cai</a:t>
            </a:r>
          </a:p>
        </p:txBody>
      </p:sp>
    </p:spTree>
    <p:extLst>
      <p:ext uri="{BB962C8B-B14F-4D97-AF65-F5344CB8AC3E}">
        <p14:creationId xmlns:p14="http://schemas.microsoft.com/office/powerpoint/2010/main" val="133648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A5AB-8CD5-256E-4EA2-A14FE2DA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Description of Dataset &amp; Data Preprocessing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8AF372-F0ED-3608-97EF-1A26E6A59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81842" y="2329943"/>
            <a:ext cx="4837176" cy="349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CSV file: lung cancer.csv</a:t>
            </a:r>
          </a:p>
          <a:p>
            <a:pPr marL="0" indent="0">
              <a:buNone/>
            </a:pPr>
            <a:r>
              <a:rPr lang="en-US" dirty="0"/>
              <a:t>Source: Kaggle dataset</a:t>
            </a:r>
          </a:p>
          <a:p>
            <a:pPr marL="0" indent="0">
              <a:buNone/>
            </a:pPr>
            <a:r>
              <a:rPr lang="en-US" dirty="0"/>
              <a:t>Binary target variable (e.g., presence or absence of lung cancer)</a:t>
            </a:r>
          </a:p>
          <a:p>
            <a:pPr marL="0" indent="0">
              <a:buNone/>
            </a:pPr>
            <a:r>
              <a:rPr lang="en-US" dirty="0"/>
              <a:t>Features: multiple clinical predictors (numerical/categorical)</a:t>
            </a:r>
          </a:p>
          <a:p>
            <a:pPr marL="0" indent="0">
              <a:buNone/>
            </a:pPr>
            <a:r>
              <a:rPr lang="en-US" dirty="0"/>
              <a:t>Objective: Classification, Prediction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25E1A-64A6-3B63-04E4-D00FA4C07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508" y="5061461"/>
            <a:ext cx="7330718" cy="5620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56A823-37E1-64C8-DFF2-A4E80A7F6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427" y="2063241"/>
            <a:ext cx="2739390" cy="27315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6983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2A82-F8A9-A14F-7FC4-22A12AF3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Description of Dataset &amp; Data Preprocessing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066148-B6CA-74D2-BDDB-45347AE50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1922206"/>
            <a:ext cx="50387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44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E41D-D43C-FE41-D0B1-3F69CC66D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																				 Evaluation Metrics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DB5F22-C708-1013-9874-5CABB18F3FB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592925" y="1905000"/>
            <a:ext cx="449828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Measures prediction error (numeric)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(Area Under ROC Curve):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Measures model’s ability to discriminate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400" dirty="0">
              <a:solidFill>
                <a:schemeClr val="tx1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Counts of True Positives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True Negatives, False Positives, False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2F8F5-FEF9-B710-963A-9EC77854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547" y="2256483"/>
            <a:ext cx="3965784" cy="495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D72725-5195-0614-5FDD-FF4C5DC8F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47" y="3599414"/>
            <a:ext cx="4062047" cy="495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7C01206B-2D95-E3E4-673F-58388E6CF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827" y="1905000"/>
            <a:ext cx="2481610" cy="19099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66109F-0230-3716-9045-578BD3F2B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849" y="1905000"/>
            <a:ext cx="2218848" cy="1925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24D68-F5BF-E8F2-A10A-D1338E9E1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827" y="3847275"/>
            <a:ext cx="3384855" cy="2893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301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6B23-DB31-EA52-D4DF-588F9CFC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Tree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039CF-ED05-65F4-266F-1D48675596F4}"/>
              </a:ext>
            </a:extLst>
          </p:cNvPr>
          <p:cNvSpPr txBox="1"/>
          <p:nvPr/>
        </p:nvSpPr>
        <p:spPr>
          <a:xfrm>
            <a:off x="1888939" y="1264555"/>
            <a:ext cx="10319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Tree for Lung Cancer dataset from </a:t>
            </a:r>
            <a:r>
              <a:rPr lang="en-US" dirty="0" err="1"/>
              <a:t>Kaggel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309 rows and 16 columns.  Response: LUNG_CANCER, other 15 variables are predictors. Only AGE is numeric, other 14 are categorical.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Response: NO: 39, YES: 270    -       Not balanced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619E5-53DB-E255-63B3-52178C69C4BA}"/>
              </a:ext>
            </a:extLst>
          </p:cNvPr>
          <p:cNvSpPr txBox="1"/>
          <p:nvPr/>
        </p:nvSpPr>
        <p:spPr>
          <a:xfrm>
            <a:off x="1888939" y="2545445"/>
            <a:ext cx="3498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Cross Validation:  </a:t>
            </a:r>
          </a:p>
          <a:p>
            <a:r>
              <a:rPr lang="en-US" dirty="0"/>
              <a:t>number of folds:  5 </a:t>
            </a:r>
          </a:p>
          <a:p>
            <a:r>
              <a:rPr lang="en-US" dirty="0"/>
              <a:t>number of </a:t>
            </a:r>
            <a:r>
              <a:rPr lang="en-US" dirty="0" err="1"/>
              <a:t>obs</a:t>
            </a:r>
            <a:r>
              <a:rPr lang="en-US" dirty="0"/>
              <a:t>:  309 </a:t>
            </a:r>
          </a:p>
          <a:p>
            <a:r>
              <a:rPr lang="en-US" dirty="0"/>
              <a:t>Training data:  51  x  5  =  255 </a:t>
            </a:r>
          </a:p>
          <a:p>
            <a:r>
              <a:rPr lang="en-US" dirty="0"/>
              <a:t>Test data:  54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177E1E-835A-5ABB-7416-0D833FBDF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39743"/>
              </p:ext>
            </p:extLst>
          </p:nvPr>
        </p:nvGraphicFramePr>
        <p:xfrm>
          <a:off x="5647625" y="2464884"/>
          <a:ext cx="5351874" cy="2080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852">
                  <a:extLst>
                    <a:ext uri="{9D8B030D-6E8A-4147-A177-3AD203B41FA5}">
                      <a16:colId xmlns:a16="http://schemas.microsoft.com/office/drawing/2014/main" val="4179930088"/>
                    </a:ext>
                  </a:extLst>
                </a:gridCol>
                <a:gridCol w="1027866">
                  <a:extLst>
                    <a:ext uri="{9D8B030D-6E8A-4147-A177-3AD203B41FA5}">
                      <a16:colId xmlns:a16="http://schemas.microsoft.com/office/drawing/2014/main" val="3739592490"/>
                    </a:ext>
                  </a:extLst>
                </a:gridCol>
                <a:gridCol w="747539">
                  <a:extLst>
                    <a:ext uri="{9D8B030D-6E8A-4147-A177-3AD203B41FA5}">
                      <a16:colId xmlns:a16="http://schemas.microsoft.com/office/drawing/2014/main" val="1779648369"/>
                    </a:ext>
                  </a:extLst>
                </a:gridCol>
                <a:gridCol w="1488403">
                  <a:extLst>
                    <a:ext uri="{9D8B030D-6E8A-4147-A177-3AD203B41FA5}">
                      <a16:colId xmlns:a16="http://schemas.microsoft.com/office/drawing/2014/main" val="736501902"/>
                    </a:ext>
                  </a:extLst>
                </a:gridCol>
                <a:gridCol w="1041214">
                  <a:extLst>
                    <a:ext uri="{9D8B030D-6E8A-4147-A177-3AD203B41FA5}">
                      <a16:colId xmlns:a16="http://schemas.microsoft.com/office/drawing/2014/main" val="3090126571"/>
                    </a:ext>
                  </a:extLst>
                </a:gridCol>
              </a:tblGrid>
              <a:tr h="494158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Residual mean </a:t>
                      </a:r>
                    </a:p>
                    <a:p>
                      <a:r>
                        <a:rPr lang="en-US" sz="1400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error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97550"/>
                  </a:ext>
                </a:extLst>
              </a:tr>
              <a:tr h="290681">
                <a:tc>
                  <a:txBody>
                    <a:bodyPr/>
                    <a:lstStyle/>
                    <a:p>
                      <a:r>
                        <a:rPr lang="en-US" sz="1400" dirty="0"/>
                        <a:t>Test31 k=1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0.06863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362874"/>
                  </a:ext>
                </a:extLst>
              </a:tr>
              <a:tr h="290681">
                <a:tc>
                  <a:txBody>
                    <a:bodyPr/>
                    <a:lstStyle/>
                    <a:p>
                      <a:r>
                        <a:rPr lang="en-US" sz="1400" dirty="0"/>
                        <a:t>Test32 k=2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0.05882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934224"/>
                  </a:ext>
                </a:extLst>
              </a:tr>
              <a:tr h="290681">
                <a:tc>
                  <a:txBody>
                    <a:bodyPr/>
                    <a:lstStyle/>
                    <a:p>
                      <a:r>
                        <a:rPr lang="en-US" sz="1400" dirty="0"/>
                        <a:t>Test33 k=3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0.07353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156103"/>
                  </a:ext>
                </a:extLst>
              </a:tr>
              <a:tr h="290681">
                <a:tc>
                  <a:txBody>
                    <a:bodyPr/>
                    <a:lstStyle/>
                    <a:p>
                      <a:r>
                        <a:rPr lang="en-US" sz="1400" dirty="0"/>
                        <a:t>Test34 k=4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 0.2155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0.04902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4072"/>
                  </a:ext>
                </a:extLst>
              </a:tr>
              <a:tr h="343443">
                <a:tc>
                  <a:txBody>
                    <a:bodyPr/>
                    <a:lstStyle/>
                    <a:p>
                      <a:r>
                        <a:rPr lang="en-US" sz="1400" dirty="0"/>
                        <a:t>Test35 k=5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0.05882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1804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B09909-EA86-79EF-733F-5AA08AB47088}"/>
              </a:ext>
            </a:extLst>
          </p:cNvPr>
          <p:cNvSpPr txBox="1"/>
          <p:nvPr/>
        </p:nvSpPr>
        <p:spPr>
          <a:xfrm>
            <a:off x="1888939" y="4167803"/>
            <a:ext cx="2764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Grow and prune, best nodes no. is 5.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F709F-9BE1-B654-67AC-7B1B586A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31" y="4813840"/>
            <a:ext cx="1955546" cy="1920900"/>
          </a:xfrm>
          <a:prstGeom prst="rect">
            <a:avLst/>
          </a:prstGeom>
        </p:spPr>
      </p:pic>
      <p:pic>
        <p:nvPicPr>
          <p:cNvPr id="9" name="Picture 8" descr="A diagram of allergy&#10;&#10;AI-generated content may be incorrect.">
            <a:extLst>
              <a:ext uri="{FF2B5EF4-FFF2-40B4-BE49-F238E27FC236}">
                <a16:creationId xmlns:a16="http://schemas.microsoft.com/office/drawing/2014/main" id="{0369680C-4904-AC9E-CE65-5667B3447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023" y="4687452"/>
            <a:ext cx="3689044" cy="20472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761801-F4E0-9728-B2BF-442AECF41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913" y="4842078"/>
            <a:ext cx="4155537" cy="18926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FC6343-FC64-9AF5-36EA-4021513589A6}"/>
              </a:ext>
            </a:extLst>
          </p:cNvPr>
          <p:cNvSpPr txBox="1"/>
          <p:nvPr/>
        </p:nvSpPr>
        <p:spPr>
          <a:xfrm>
            <a:off x="9308915" y="4538074"/>
            <a:ext cx="198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Bagging</a:t>
            </a:r>
          </a:p>
        </p:txBody>
      </p:sp>
    </p:spTree>
    <p:extLst>
      <p:ext uri="{BB962C8B-B14F-4D97-AF65-F5344CB8AC3E}">
        <p14:creationId xmlns:p14="http://schemas.microsoft.com/office/powerpoint/2010/main" val="330553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747F-5287-566D-C653-1EA63043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82" y="313001"/>
            <a:ext cx="8911687" cy="1280890"/>
          </a:xfrm>
        </p:spPr>
        <p:txBody>
          <a:bodyPr/>
          <a:lstStyle/>
          <a:p>
            <a:r>
              <a:rPr lang="en-US" b="1" dirty="0"/>
              <a:t>Decision Tree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640AE-96C0-6CC7-E607-C8377E910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01" y="1264555"/>
            <a:ext cx="6044119" cy="2284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093BA5-4DD5-F49D-F152-F59745D5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920" y="1264555"/>
            <a:ext cx="2208573" cy="2168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1788DB-FF62-B71A-077F-4C25827D554F}"/>
              </a:ext>
            </a:extLst>
          </p:cNvPr>
          <p:cNvSpPr txBox="1"/>
          <p:nvPr/>
        </p:nvSpPr>
        <p:spPr>
          <a:xfrm>
            <a:off x="2152148" y="3542709"/>
            <a:ext cx="609777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summary(tree boosting)</a:t>
            </a:r>
          </a:p>
          <a:p>
            <a:r>
              <a:rPr lang="en-US" sz="1400" dirty="0"/>
              <a:t>                                        var    rel.inf</a:t>
            </a:r>
          </a:p>
          <a:p>
            <a:r>
              <a:rPr lang="en-US" sz="1100" dirty="0"/>
              <a:t>YELLOW_FINGERS        </a:t>
            </a:r>
            <a:r>
              <a:rPr lang="en-US" sz="1100" dirty="0" err="1"/>
              <a:t>YELLOW_FINGERS</a:t>
            </a:r>
            <a:r>
              <a:rPr lang="en-US" sz="1100" dirty="0"/>
              <a:t> 14.8266516</a:t>
            </a:r>
          </a:p>
          <a:p>
            <a:r>
              <a:rPr lang="en-US" sz="1100" dirty="0"/>
              <a:t>FATIGUE                             </a:t>
            </a:r>
            <a:r>
              <a:rPr lang="en-US" sz="1100" dirty="0" err="1"/>
              <a:t>FATIGUE</a:t>
            </a:r>
            <a:r>
              <a:rPr lang="en-US" sz="1100" dirty="0"/>
              <a:t> 11.7569655</a:t>
            </a:r>
          </a:p>
          <a:p>
            <a:r>
              <a:rPr lang="en-US" sz="1100" dirty="0"/>
              <a:t>ANXIETY                             </a:t>
            </a:r>
            <a:r>
              <a:rPr lang="en-US" sz="1100" dirty="0" err="1"/>
              <a:t>ANXIETY</a:t>
            </a:r>
            <a:r>
              <a:rPr lang="en-US" sz="1100" dirty="0"/>
              <a:t> 10.7888451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336BBF-DABE-0F0A-BBFE-40BB1DA75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148" y="4679618"/>
            <a:ext cx="4241879" cy="21722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F7DA78-28C1-9C5B-A72A-B0C727C394A4}"/>
              </a:ext>
            </a:extLst>
          </p:cNvPr>
          <p:cNvSpPr txBox="1"/>
          <p:nvPr/>
        </p:nvSpPr>
        <p:spPr>
          <a:xfrm>
            <a:off x="3733037" y="4573760"/>
            <a:ext cx="1679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7E422-327F-DB4F-35CD-50D1AD70FE18}"/>
              </a:ext>
            </a:extLst>
          </p:cNvPr>
          <p:cNvSpPr txBox="1"/>
          <p:nvPr/>
        </p:nvSpPr>
        <p:spPr>
          <a:xfrm>
            <a:off x="9593651" y="3542561"/>
            <a:ext cx="2347977" cy="23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FF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Summary of Train AUC and Test AUC</a:t>
            </a:r>
            <a:endParaRPr lang="en-US" sz="1100" kern="0" dirty="0">
              <a:solidFill>
                <a:srgbClr val="0000FF"/>
              </a:solidFill>
              <a:effectLst/>
              <a:latin typeface="Lucida Console" panose="020B060904050402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</a:t>
            </a:r>
            <a:r>
              <a:rPr lang="en-US" sz="1100" kern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LogiReg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[1] 0.9823589 0.8777174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</a:t>
            </a:r>
            <a:r>
              <a:rPr lang="en-US" sz="1100" kern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GrowAndPrune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[1] 0.8464862 0.8288043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Bagging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[1] 0.9398041 0.8179348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</a:t>
            </a:r>
            <a:r>
              <a:rPr lang="en-US" sz="1100" kern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RandomForest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[1] 0.9394441 0.8084239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FF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&gt; Boosting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ts val="8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kern="0" dirty="0">
                <a:solidFill>
                  <a:srgbClr val="00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[1] 0.9999280 0.8342391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F97567-F69F-8227-393B-692BA9E898D2}"/>
              </a:ext>
            </a:extLst>
          </p:cNvPr>
          <p:cNvSpPr txBox="1"/>
          <p:nvPr/>
        </p:nvSpPr>
        <p:spPr>
          <a:xfrm>
            <a:off x="6972818" y="6062021"/>
            <a:ext cx="4531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 and decision tree with boosting have better AUCs.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ED9F5-17F5-B4F6-9F55-09076871D73A}"/>
              </a:ext>
            </a:extLst>
          </p:cNvPr>
          <p:cNvSpPr txBox="1"/>
          <p:nvPr/>
        </p:nvSpPr>
        <p:spPr>
          <a:xfrm>
            <a:off x="6756712" y="4811992"/>
            <a:ext cx="2208573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70" b="1" dirty="0"/>
              <a:t> Test</a:t>
            </a:r>
          </a:p>
          <a:p>
            <a:r>
              <a:rPr lang="en-US" sz="1470" dirty="0"/>
              <a:t>                 Reference</a:t>
            </a:r>
          </a:p>
          <a:p>
            <a:r>
              <a:rPr lang="en-US" sz="1470" dirty="0"/>
              <a:t>Prediction NO  YES</a:t>
            </a:r>
          </a:p>
          <a:p>
            <a:r>
              <a:rPr lang="en-US" sz="1470" dirty="0"/>
              <a:t>            NO   5     3</a:t>
            </a:r>
          </a:p>
          <a:p>
            <a:r>
              <a:rPr lang="en-US" sz="1470" dirty="0"/>
              <a:t>             YES  3    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E913B-40E2-1773-66F4-B84757A02785}"/>
              </a:ext>
            </a:extLst>
          </p:cNvPr>
          <p:cNvSpPr txBox="1"/>
          <p:nvPr/>
        </p:nvSpPr>
        <p:spPr>
          <a:xfrm>
            <a:off x="6779021" y="3603969"/>
            <a:ext cx="2208573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50" b="1" dirty="0"/>
              <a:t>Train</a:t>
            </a:r>
            <a:r>
              <a:rPr lang="en-US" sz="1450" dirty="0"/>
              <a:t>                  </a:t>
            </a:r>
          </a:p>
          <a:p>
            <a:r>
              <a:rPr lang="en-US" sz="1450" dirty="0"/>
              <a:t>                  Reference</a:t>
            </a:r>
          </a:p>
          <a:p>
            <a:r>
              <a:rPr lang="en-US" sz="1450" dirty="0"/>
              <a:t>Prediction  NO  YES</a:t>
            </a:r>
          </a:p>
          <a:p>
            <a:r>
              <a:rPr lang="en-US" sz="1450" dirty="0"/>
              <a:t>             NO   25    4</a:t>
            </a:r>
          </a:p>
          <a:p>
            <a:r>
              <a:rPr lang="en-US" sz="1450" dirty="0"/>
              <a:t>             YES   6    220</a:t>
            </a:r>
          </a:p>
        </p:txBody>
      </p:sp>
    </p:spTree>
    <p:extLst>
      <p:ext uri="{BB962C8B-B14F-4D97-AF65-F5344CB8AC3E}">
        <p14:creationId xmlns:p14="http://schemas.microsoft.com/office/powerpoint/2010/main" val="92184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FFC6-0BD1-792E-CEC2-377A19DA1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"/>
            <a:ext cx="8689976" cy="384095"/>
          </a:xfrm>
        </p:spPr>
        <p:txBody>
          <a:bodyPr>
            <a:normAutofit fontScale="90000"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SVM Analysis Summary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A3A19A-8D32-8792-C05C-0F7F6B787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1" y="384097"/>
            <a:ext cx="10347203" cy="6473904"/>
          </a:xfrm>
        </p:spPr>
        <p:txBody>
          <a:bodyPr>
            <a:normAutofit lnSpcReduction="10000"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SVM with linear, radial (RBF), and polynomial kernels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prepared by removing categorical variables and scaling numeric predictors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variable (LUNG_CANCER) encoded as binary factor                                                                                           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70% training, 30% testing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tuned using 5-fold cross-validation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Based on the performance metrics and ROC curves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 performed best overall, with strong Test AUC (~0.92) and stable metrics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SVM showed similar AUC, but slightly higher error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Radial SVM performed weakest, with lower Test AUC (~0.78).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 is the most reliable model for this dataset</a:t>
            </a:r>
            <a:r>
              <a:rPr lang="en-US" dirty="0"/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776C5789-D5F0-8B6E-0F3A-C33AF21FE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64" y="1987729"/>
            <a:ext cx="6501581" cy="1441271"/>
          </a:xfrm>
          <a:prstGeom prst="rect">
            <a:avLst/>
          </a:prstGeom>
        </p:spPr>
      </p:pic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A822C6C4-05A4-E76B-7406-618EA66EA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47" y="3429000"/>
            <a:ext cx="2818158" cy="1655890"/>
          </a:xfrm>
          <a:prstGeom prst="rect">
            <a:avLst/>
          </a:prstGeom>
        </p:spPr>
      </p:pic>
      <p:pic>
        <p:nvPicPr>
          <p:cNvPr id="8" name="Picture 7" descr="A graph of a curve&#10;&#10;AI-generated content may be incorrect.">
            <a:extLst>
              <a:ext uri="{FF2B5EF4-FFF2-40B4-BE49-F238E27FC236}">
                <a16:creationId xmlns:a16="http://schemas.microsoft.com/office/drawing/2014/main" id="{C7526194-0EAE-17E0-6A34-EC4C2D889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822" y="3308906"/>
            <a:ext cx="2572378" cy="1655890"/>
          </a:xfrm>
          <a:prstGeom prst="rect">
            <a:avLst/>
          </a:prstGeom>
        </p:spPr>
      </p:pic>
      <p:pic>
        <p:nvPicPr>
          <p:cNvPr id="9" name="Picture 8" descr="A graph with a line&#10;&#10;AI-generated content may be incorrect.">
            <a:extLst>
              <a:ext uri="{FF2B5EF4-FFF2-40B4-BE49-F238E27FC236}">
                <a16:creationId xmlns:a16="http://schemas.microsoft.com/office/drawing/2014/main" id="{2EEE347F-3BA1-D9B1-72A6-488A4DFB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634" y="3291312"/>
            <a:ext cx="2778484" cy="155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39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8601-67B5-D07C-2457-FEE05545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273" y="127819"/>
            <a:ext cx="8911687" cy="448683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Model Settings and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51CFE-4DBC-306E-42D6-9E524B7C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155" y="576503"/>
            <a:ext cx="9872457" cy="6281498"/>
          </a:xfrm>
        </p:spPr>
        <p:txBody>
          <a:bodyPr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linear kernel performed strongly with excellent generalization.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Radial Kernel performed weakest, with lower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SVM showed similar AUC, but slightly higher error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67EA0E-600E-8F3D-D991-121587B13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35" y="1419580"/>
            <a:ext cx="3110667" cy="12839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D2CDB6-011C-C0BD-DE73-7BDBD7D91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382" y="1514665"/>
            <a:ext cx="1983235" cy="1310704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E3B64C2-56B9-19B0-5948-2482B54FF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925" y="1317921"/>
            <a:ext cx="2270760" cy="1385626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A190B3A-F8A6-8F45-F81C-819C5B537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777" y="3227783"/>
            <a:ext cx="2195195" cy="11658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A99EE8-2411-0078-900D-A42133C5B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402" y="3160439"/>
            <a:ext cx="2195194" cy="1165860"/>
          </a:xfrm>
          <a:prstGeom prst="rect">
            <a:avLst/>
          </a:prstGeom>
        </p:spPr>
      </p:pic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46BE03A-87B5-5775-7F2E-7BD970F9F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925" y="3037782"/>
            <a:ext cx="2459195" cy="1188882"/>
          </a:xfrm>
          <a:prstGeom prst="rect">
            <a:avLst/>
          </a:prstGeom>
        </p:spPr>
      </p:pic>
      <p:pic>
        <p:nvPicPr>
          <p:cNvPr id="14" name="Picture 1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544994D-597E-531A-B90A-1E022CA17B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2777" y="5083681"/>
            <a:ext cx="2362200" cy="15316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6C916D-C38B-1D0D-513C-4DFE37E20E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8330" y="5083681"/>
            <a:ext cx="1786003" cy="1531620"/>
          </a:xfrm>
          <a:prstGeom prst="rect">
            <a:avLst/>
          </a:prstGeom>
        </p:spPr>
      </p:pic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1F17FA6-4FCC-CEE6-9D53-E364FA2F67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0912" y="4817636"/>
            <a:ext cx="2484120" cy="153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19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3891-3E14-6F5C-399B-08D8D9D4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Neural Network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A4450-2E82-A4BC-145E-E0E2B4EE7777}"/>
              </a:ext>
            </a:extLst>
          </p:cNvPr>
          <p:cNvSpPr txBox="1"/>
          <p:nvPr/>
        </p:nvSpPr>
        <p:spPr>
          <a:xfrm>
            <a:off x="2592925" y="1232289"/>
            <a:ext cx="358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 used: </a:t>
            </a:r>
            <a:r>
              <a:rPr lang="en-US" dirty="0" err="1"/>
              <a:t>neuralnet</a:t>
            </a:r>
            <a:endParaRPr lang="en-US" dirty="0"/>
          </a:p>
        </p:txBody>
      </p:sp>
      <p:pic>
        <p:nvPicPr>
          <p:cNvPr id="9" name="Picture 8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9220360-8D55-125D-2695-2F82730A1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1601621"/>
            <a:ext cx="4000500" cy="2352675"/>
          </a:xfrm>
          <a:prstGeom prst="rect">
            <a:avLst/>
          </a:prstGeom>
        </p:spPr>
      </p:pic>
      <p:pic>
        <p:nvPicPr>
          <p:cNvPr id="11" name="Picture 10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BAAA88CE-CFFC-8727-9C36-4A82679EA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199" y="849146"/>
            <a:ext cx="4181475" cy="3105150"/>
          </a:xfrm>
          <a:prstGeom prst="rect">
            <a:avLst/>
          </a:prstGeom>
        </p:spPr>
      </p:pic>
      <p:pic>
        <p:nvPicPr>
          <p:cNvPr id="13" name="Picture 12" descr="A close up of numbers&#10;&#10;AI-generated content may be incorrect.">
            <a:extLst>
              <a:ext uri="{FF2B5EF4-FFF2-40B4-BE49-F238E27FC236}">
                <a16:creationId xmlns:a16="http://schemas.microsoft.com/office/drawing/2014/main" id="{F7C5B437-42B1-97C8-3DBF-CA18B0C017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5628" y="60714"/>
            <a:ext cx="1504950" cy="71437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536928-03DA-C28C-6570-96134852C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76" y="4043363"/>
            <a:ext cx="3371850" cy="1819275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ED958A-3524-6C6A-C4D1-AEF9CE67B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826" y="4043363"/>
            <a:ext cx="3305175" cy="1838325"/>
          </a:xfrm>
          <a:prstGeom prst="rect">
            <a:avLst/>
          </a:prstGeom>
        </p:spPr>
      </p:pic>
      <p:pic>
        <p:nvPicPr>
          <p:cNvPr id="19" name="Picture 18" descr="A number and numbers on a white background&#10;&#10;AI-generated content may be incorrect.">
            <a:extLst>
              <a:ext uri="{FF2B5EF4-FFF2-40B4-BE49-F238E27FC236}">
                <a16:creationId xmlns:a16="http://schemas.microsoft.com/office/drawing/2014/main" id="{7F7F39E6-BE05-C4D9-8D5E-50828C5AF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4001" y="4043363"/>
            <a:ext cx="44577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1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39F7-A0AA-322C-AE9B-17326873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0"/>
            <a:ext cx="8911687" cy="1280890"/>
          </a:xfrm>
        </p:spPr>
        <p:txBody>
          <a:bodyPr/>
          <a:lstStyle/>
          <a:p>
            <a:r>
              <a:rPr lang="en-US" b="1" dirty="0"/>
              <a:t>Neural Network </a:t>
            </a:r>
            <a:endParaRPr lang="en-US" dirty="0"/>
          </a:p>
        </p:txBody>
      </p:sp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E80261DE-D020-EC0D-AABD-092035402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34" y="3771825"/>
            <a:ext cx="4363462" cy="3010481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3110B88E-A892-3250-25B5-0C280414E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34" y="640444"/>
            <a:ext cx="4363462" cy="3131381"/>
          </a:xfrm>
          <a:prstGeom prst="rect">
            <a:avLst/>
          </a:prstGeom>
        </p:spPr>
      </p:pic>
      <p:pic>
        <p:nvPicPr>
          <p:cNvPr id="11" name="Picture 10" descr="A diagram of a network&#10;&#10;AI-generated content may be incorrect.">
            <a:extLst>
              <a:ext uri="{FF2B5EF4-FFF2-40B4-BE49-F238E27FC236}">
                <a16:creationId xmlns:a16="http://schemas.microsoft.com/office/drawing/2014/main" id="{79ABF44D-3BD5-AA2D-DF03-D3B4F0B7E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96" y="0"/>
            <a:ext cx="6698314" cy="3939066"/>
          </a:xfrm>
          <a:prstGeom prst="rect">
            <a:avLst/>
          </a:prstGeom>
        </p:spPr>
      </p:pic>
      <p:pic>
        <p:nvPicPr>
          <p:cNvPr id="12" name="Picture 1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88E2AE77-786D-63A3-55C8-D6BE59325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796" y="3939066"/>
            <a:ext cx="3105312" cy="2843240"/>
          </a:xfrm>
          <a:prstGeom prst="rect">
            <a:avLst/>
          </a:prstGeom>
        </p:spPr>
      </p:pic>
      <p:pic>
        <p:nvPicPr>
          <p:cNvPr id="14" name="Picture 1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744C9519-AF3C-BDB1-4D8B-A3B2C7DCB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979561"/>
            <a:ext cx="36195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59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BF95-2106-4DF3-5063-04DBD084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44462-AC9D-2926-D2B0-1E03B58D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Model: Logistic Regression: Test AUC = 0.87772</a:t>
            </a:r>
          </a:p>
          <a:p>
            <a:r>
              <a:rPr lang="en-US" dirty="0"/>
              <a:t>Decision Tree Model: Boosting: Test AUC = 0.83424</a:t>
            </a:r>
          </a:p>
          <a:p>
            <a:r>
              <a:rPr lang="en-US" dirty="0"/>
              <a:t>SVM Model: Linear SVM: Test AUC = 0.92115</a:t>
            </a:r>
          </a:p>
          <a:p>
            <a:r>
              <a:rPr lang="en-US" dirty="0"/>
              <a:t>NN Model: 1 hidden layer with 3 nodes: Test AUC = 0.96543</a:t>
            </a:r>
          </a:p>
          <a:p>
            <a:endParaRPr lang="en-US" dirty="0"/>
          </a:p>
          <a:p>
            <a:r>
              <a:rPr lang="en-US" dirty="0"/>
              <a:t>SVM Linear Model has a high </a:t>
            </a:r>
            <a:r>
              <a:rPr lang="en-US"/>
              <a:t>Test set AUC </a:t>
            </a:r>
            <a:r>
              <a:rPr lang="en-US" dirty="0"/>
              <a:t>and better classification accuracy, thus this is the best model for our Lung cancer prediction project.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310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744</TotalTime>
  <Words>598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 Unicode MS</vt:lpstr>
      <vt:lpstr>Aptos</vt:lpstr>
      <vt:lpstr>Arial</vt:lpstr>
      <vt:lpstr>Century Gothic</vt:lpstr>
      <vt:lpstr>Lucida Console</vt:lpstr>
      <vt:lpstr>Times New Roman</vt:lpstr>
      <vt:lpstr>Wingdings 3</vt:lpstr>
      <vt:lpstr>Wisp</vt:lpstr>
      <vt:lpstr>Predicting Lung Cancer using Machine Learning Models.</vt:lpstr>
      <vt:lpstr>Description of Dataset &amp; Data Preprocessing</vt:lpstr>
      <vt:lpstr>Description of Dataset &amp; Data Preprocessing</vt:lpstr>
      <vt:lpstr>Logistic Regression                      Evaluation Metrics</vt:lpstr>
      <vt:lpstr>Decision Tree </vt:lpstr>
      <vt:lpstr>Decision Tree</vt:lpstr>
      <vt:lpstr>SVM Analysis Summary</vt:lpstr>
      <vt:lpstr>Key Model Settings and Confusion Matrix</vt:lpstr>
      <vt:lpstr>Neural Network </vt:lpstr>
      <vt:lpstr>Neural Network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Cai</dc:creator>
  <cp:lastModifiedBy>Jing Sun</cp:lastModifiedBy>
  <cp:revision>4</cp:revision>
  <dcterms:created xsi:type="dcterms:W3CDTF">2025-12-09T21:53:34Z</dcterms:created>
  <dcterms:modified xsi:type="dcterms:W3CDTF">2025-12-11T14:44:20Z</dcterms:modified>
</cp:coreProperties>
</file>